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Gergő – 0:35. A programozási nyelvek története nem csupán a régiek lecserélése. Minden korszak más problémára keresett megoldást. Három eltérő hangsúlyt fogunk összevetni: a Fortran számításközpontúságát, a C rendszerszintű kontrollját és a Rust memóriabiztonsági modelljét.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Gergő – 1:05. 1957-ben a Fortran megkönnyítette a tudósok számára a matematikai számítások kódolását, és az IBM fejlesztőcsapata John Backus vezetésével dolgozott rajta. A C 1969 és 1973 közt alakult ki, 1972 különösen fontos év volt a Dennis Ritchie által fejlesztett nyelv számára. A Rust 2015-ös stabil kiadása a biztonságos rendszerszintű fejlesztés egyik új irányát jelölte ki. A 2015 itt az 1.0, nem a fejlesztés kezdete.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Gergő – 1:10. A Fortran az IBM-nél John Backus vezetésével született; az első megjelenés 1957. A nyelv elsősorban a tudományos, numerikus feladatok érthetőbb megfogalmazását segítette. A modern Fortran már messze nem azonos az eredeti FORTRAN I változattal. A dián látható Fortran 2008 kód egy dinamikus tömböt foglal, feltölti értékekkel, majd a SUM segítségével összegzi az adatokat. Az ALLOCATABLE magasabb szintű memóriakezelést tesz lehetővé.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Milán – 1:15. A C-t Dennis Ritchie a Bell Labs környezetében fejlesztette, szorosan kapcsolódva a Unixhoz. A C erőssége, hogy a fejlesztő közvetlenül dolgozhat a memóriával és címekkel. A malloc dinamikus memóriaterületet foglal, a free felszabadítja. Ez az ellenőrzés a programozó felelőssége. A túlindexelés, a szivárgás és a felszabadítás utáni használat valódi hibakockázat. Fontos: a C statikusan típusos, de a pointeres műveletek nagy rugalmasságot adnak.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Milán – 1:15. A Rust 1.0 stabil kiadása 2015. május 15-én jelent meg. A Rust ownership szemlélete arról szól, hogy az erőforrásnak van tulajdonosa, és a fordító vizsgálja, milyen hivatkozások használhatók biztonságosan. A vec! makróval létrehozott Vec birtokolja az elemeket, a függvény &amp;scores kölcsönzéssel jut hozzájuk. A függvény nem veszi át az adat tulajdonjogát. A Rust nem hibamentességet ígér: különösen unsafe kódnál további figyelem kell.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Dominik – 1:10. A három nyelv statikusan típusos, mégsem ugyanúgy védi a programozót. A Fortran a tudományos tömbműveletekre, a C a közvetlen alacsony szintű műveletekre, a Rust pedig a memóriabiztonságra helyez hangsúlyt. Az allocatable, malloc/free és ownership eltérő memóriamodelleket jelentenek. A különböző nyelveknek továbbra is külön területeken van erős ökoszisztémájuk.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Milán – 1:00. Mindhárom program ugyanazt a feladatot oldja meg: öt egész szám összegét és átlagát számítja ki. Az összeg 130, az átlag 26,00. A képernyőn a lényegi műveletek szerepelnek, a teljes források és a fordítási útmutató a projektcsomagban található. Az adatok tárolása és a memória felszabadítása eltérő: a Fortran dinamikus tömböt, a C mallocot és freet, a Rust Vecet és borrowingot használ.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Dominik – 1:05. A C direkt memóriakezelési szabadságot ad, de a hibák egy részét csak teszteléssel vagy futás közben fedezzük fel. A modern Fortran allocatable tömbjei más eszközökkel segítenek az erőforrások kezelésében. A Rust ownership és borrow checker rendszere már fordítás közben tilt sok memóriahibához vezető mintát. Az unsafe Rust és a logikai hibák miatt a biztonságot nem szabad abszolútnak tekinteni.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Dominik – 0:55. A Fortran a tudományos és mérnöki számításokban ma is használatban van, ráadásul modernizálódott. A C továbbra is meghatározó rendszerszintű komponensekben, és sok nyelv szintaxisára hatott. A Rust azt mutatja meg, hogy az erőforrások biztonságát részben a nyelv és a fordító szintjén is meg lehet tervezni. A nyelvek nem egyetlen lineáris rangsorban helyezkednek 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Dominik – 0:30. A három nyelv három tervezési hangsúlyt példáz: a Fortran számításközpontú, a C közvetlen kontrollt ad, a Rust pedig fordításidejű biztonságot hangsúlyoz. Nem az a kérdés, hogy melyik nyelv minden helyzetben jobb, hanem hogy melyik kompromisszum illik a feladathoz. Köszönjük a figyelmet. Források: IBM Fortran/Backus, D. M. Ritchie Bell Labs, Rust Blog és Rust Book, GNU Fortran, cppreference.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 · PROGRAMOZÁSI PROJEKT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70432"/>
            <a:ext cx="2514600" cy="283464"/>
          </a:xfrm>
          <a:prstGeom prst="roundRect">
            <a:avLst>
              <a:gd name="adj" fmla="val 41935"/>
            </a:avLst>
          </a:prstGeom>
          <a:solidFill>
            <a:srgbClr val="2CD4D2">
              <a:alpha val="13000"/>
            </a:srgbClr>
          </a:solidFill>
          <a:ln w="11430">
            <a:solidFill>
              <a:srgbClr val="2CD4D2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207008"/>
            <a:ext cx="23134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KORSZAK  /  3 NYELV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programozási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nyelvek evolúciója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58952" y="3465576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Hogyan jutottunk el a számításoktól a memóriabiztonságig?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9808" y="4590288"/>
            <a:ext cx="3557016" cy="1060704"/>
          </a:xfrm>
          <a:prstGeom prst="roundRect">
            <a:avLst>
              <a:gd name="adj" fmla="val 14655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8006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1957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67712" y="4882896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81144" y="4590288"/>
            <a:ext cx="3557016" cy="1060704"/>
          </a:xfrm>
          <a:prstGeom prst="roundRect">
            <a:avLst>
              <a:gd name="adj" fmla="val 14655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48006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1972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9048" y="4882896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0" y="4590288"/>
            <a:ext cx="3557016" cy="1060704"/>
          </a:xfrm>
          <a:prstGeom prst="roundRect">
            <a:avLst>
              <a:gd name="adj" fmla="val 14655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3648" y="48006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2015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930384" y="4882896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RUST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TÖRTÉNELMI KONTEXTUS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Miért születnek új nyelvek?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célok változnak, a korábbi megoldások pedig velünk maradnak.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2907792"/>
            <a:ext cx="9829800" cy="0"/>
          </a:xfrm>
          <a:prstGeom prst="line">
            <a:avLst/>
          </a:prstGeom>
          <a:noFill/>
          <a:ln w="50800">
            <a:solidFill>
              <a:srgbClr val="2C3C5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85800" y="2414016"/>
            <a:ext cx="3584448" cy="2889504"/>
          </a:xfrm>
          <a:prstGeom prst="roundRect">
            <a:avLst>
              <a:gd name="adj" fmla="val 5380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2670048"/>
            <a:ext cx="393192" cy="393192"/>
          </a:xfrm>
          <a:prstGeom prst="ellipse">
            <a:avLst/>
          </a:prstGeom>
          <a:solidFill>
            <a:srgbClr val="F6B84B"/>
          </a:solidFill>
          <a:ln w="12700">
            <a:solidFill>
              <a:srgbClr val="F6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2651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1957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6112" y="341071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5256" y="3904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Mérnöki számítás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3525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matematikai feladatot ne gépi utasítássorozatként kelljen leírni.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80560" y="2414016"/>
            <a:ext cx="3584448" cy="2889504"/>
          </a:xfrm>
          <a:prstGeom prst="roundRect">
            <a:avLst>
              <a:gd name="adj" fmla="val 5380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2670048"/>
            <a:ext cx="393192" cy="393192"/>
          </a:xfrm>
          <a:prstGeom prst="ellipse">
            <a:avLst/>
          </a:prstGeom>
          <a:solidFill>
            <a:srgbClr val="5788FF"/>
          </a:solidFill>
          <a:ln w="12700">
            <a:solidFill>
              <a:srgbClr val="578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2651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1972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90872" y="341071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0016" y="3904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Hordozhatóbb rendszerkód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90872" y="43525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Unix fejlesztéséhez kellett hatékony, kifejező rendszernyelv.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75320" y="2414016"/>
            <a:ext cx="3584448" cy="2889504"/>
          </a:xfrm>
          <a:prstGeom prst="roundRect">
            <a:avLst>
              <a:gd name="adj" fmla="val 5380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670048"/>
            <a:ext cx="393192" cy="393192"/>
          </a:xfrm>
          <a:prstGeom prst="ellipse">
            <a:avLst/>
          </a:prstGeom>
          <a:solidFill>
            <a:srgbClr val="2CD4D2"/>
          </a:solidFill>
          <a:ln w="12700">
            <a:solidFill>
              <a:srgbClr val="2CD4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9408" y="2651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2015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485632" y="341071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RUST 1.0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94776" y="3904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Memóriabiztonság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85632" y="43525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nagy teljesítmény és a fordításidejű biztonság együtt fontos.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ÚTTÖRŐK · FORTRAN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FORTRAN: közelebb a képletekhez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IBM / John Backus és csapata / 1957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3904488" cy="3364992"/>
          </a:xfrm>
          <a:prstGeom prst="roundRect">
            <a:avLst>
              <a:gd name="adj" fmla="val 4620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62456" y="2459736"/>
            <a:ext cx="22860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0" b="1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∑</a:t>
            </a:r>
            <a:endParaRPr lang="en-US" sz="9100" dirty="0"/>
          </a:p>
        </p:txBody>
      </p:sp>
      <p:sp>
        <p:nvSpPr>
          <p:cNvPr id="11" name="Text 9"/>
          <p:cNvSpPr/>
          <p:nvPr/>
        </p:nvSpPr>
        <p:spPr>
          <a:xfrm>
            <a:off x="1024128" y="431596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Tudományos és numerikus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számítások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800600" y="2377440"/>
            <a:ext cx="6702552" cy="3364992"/>
          </a:xfrm>
          <a:prstGeom prst="roundRect">
            <a:avLst>
              <a:gd name="adj" fmla="val 4620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11496" y="2679192"/>
            <a:ext cx="2185416" cy="283464"/>
          </a:xfrm>
          <a:prstGeom prst="roundRect">
            <a:avLst>
              <a:gd name="adj" fmla="val 41935"/>
            </a:avLst>
          </a:prstGeom>
          <a:solidFill>
            <a:srgbClr val="F6B84B">
              <a:alpha val="13000"/>
            </a:srgbClr>
          </a:solidFill>
          <a:ln w="11430">
            <a:solidFill>
              <a:srgbClr val="F6B84B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2715768"/>
            <a:ext cx="1984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MODERN FORTRAN 2008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3218688"/>
            <a:ext cx="5806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allocate(scores(5))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scores = [12, 18, 25, 31, 44]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total = sum(scores)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deallocate(scores)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84648" y="5074920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Statikus típusok  ·  Tömbműveletek  ·  ALLOCATABLE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ALAPOZÓK ·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C: kontroll közel a hardverhez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Dennis Ritchie / Bell Labs / a korai Unix igényei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322576"/>
            <a:ext cx="5696712" cy="3520440"/>
          </a:xfrm>
          <a:prstGeom prst="roundRect">
            <a:avLst>
              <a:gd name="adj" fmla="val 4416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633472"/>
            <a:ext cx="658368" cy="283464"/>
          </a:xfrm>
          <a:prstGeom prst="roundRect">
            <a:avLst>
              <a:gd name="adj" fmla="val 41935"/>
            </a:avLst>
          </a:prstGeom>
          <a:solidFill>
            <a:srgbClr val="5788FF">
              <a:alpha val="13000"/>
            </a:srgbClr>
          </a:solidFill>
          <a:ln w="11430">
            <a:solidFill>
              <a:srgbClr val="5788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6696" y="3172968"/>
            <a:ext cx="51023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 *scores = malloc(...);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(!scores) return 1;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/* feldolgozás */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free(scores);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620256" y="2322576"/>
            <a:ext cx="4882896" cy="3520440"/>
          </a:xfrm>
          <a:prstGeom prst="roundRect">
            <a:avLst>
              <a:gd name="adj" fmla="val 4416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2592" y="26791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memória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967728" y="3419856"/>
            <a:ext cx="630936" cy="630936"/>
          </a:xfrm>
          <a:prstGeom prst="roundRect">
            <a:avLst>
              <a:gd name="adj" fmla="val 24638"/>
            </a:avLst>
          </a:prstGeom>
          <a:solidFill>
            <a:srgbClr val="243B56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3602736"/>
            <a:ext cx="630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54112" y="3419856"/>
            <a:ext cx="630936" cy="630936"/>
          </a:xfrm>
          <a:prstGeom prst="roundRect">
            <a:avLst>
              <a:gd name="adj" fmla="val 24638"/>
            </a:avLst>
          </a:prstGeom>
          <a:solidFill>
            <a:srgbClr val="243B56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3602736"/>
            <a:ext cx="630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40496" y="3419856"/>
            <a:ext cx="630936" cy="630936"/>
          </a:xfrm>
          <a:prstGeom prst="roundRect">
            <a:avLst>
              <a:gd name="adj" fmla="val 24638"/>
            </a:avLst>
          </a:prstGeom>
          <a:solidFill>
            <a:srgbClr val="243B56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0496" y="3602736"/>
            <a:ext cx="630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326880" y="3419856"/>
            <a:ext cx="630936" cy="630936"/>
          </a:xfrm>
          <a:prstGeom prst="roundRect">
            <a:avLst>
              <a:gd name="adj" fmla="val 24638"/>
            </a:avLst>
          </a:prstGeom>
          <a:solidFill>
            <a:srgbClr val="243B56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3602736"/>
            <a:ext cx="630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13264" y="3419856"/>
            <a:ext cx="630936" cy="630936"/>
          </a:xfrm>
          <a:prstGeom prst="roundRect">
            <a:avLst>
              <a:gd name="adj" fmla="val 24638"/>
            </a:avLst>
          </a:prstGeom>
          <a:solidFill>
            <a:srgbClr val="243B56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13264" y="3602736"/>
            <a:ext cx="630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88936" y="4764024"/>
            <a:ext cx="3392424" cy="0"/>
          </a:xfrm>
          <a:prstGeom prst="line">
            <a:avLst/>
          </a:prstGeom>
          <a:noFill/>
          <a:ln w="38100">
            <a:solidFill>
              <a:srgbClr val="FC7F7A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6958584" y="50200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malloc()  →  programozó  →  free()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MODERN KIHÍVÓK · 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Rust: biztonság a fordítás idején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Ownership + borrowing, hagyományos garbage collector nélkül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350008"/>
            <a:ext cx="10835640" cy="1627632"/>
          </a:xfrm>
          <a:prstGeom prst="roundRect">
            <a:avLst>
              <a:gd name="adj" fmla="val 9551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42616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Vec&lt;i32&gt;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35808" y="3191256"/>
            <a:ext cx="1673352" cy="0"/>
          </a:xfrm>
          <a:prstGeom prst="line">
            <a:avLst/>
          </a:prstGeom>
          <a:noFill/>
          <a:ln w="38100">
            <a:solidFill>
              <a:srgbClr val="2CD4D2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901184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&amp;scores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3118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borrow / kölcsönzés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43216" y="3191256"/>
            <a:ext cx="914400" cy="0"/>
          </a:xfrm>
          <a:prstGeom prst="line">
            <a:avLst/>
          </a:prstGeom>
          <a:noFill/>
          <a:ln w="38100">
            <a:solidFill>
              <a:srgbClr val="2CD4D2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430768" y="2706624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D4D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calculate(&amp;[i32])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270248"/>
            <a:ext cx="5212080" cy="1298448"/>
          </a:xfrm>
          <a:prstGeom prst="roundRect">
            <a:avLst>
              <a:gd name="adj" fmla="val 11972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5994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Élettartam- és kölcsönzési szabályok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80760" y="4270248"/>
            <a:ext cx="5431536" cy="1298448"/>
          </a:xfrm>
          <a:prstGeom prst="roundRect">
            <a:avLst>
              <a:gd name="adj" fmla="val 11972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599432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Sok memóriahiba korábban kiszűrhető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TECHNIKAI ÖSSZEHASONLÍTÁS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lényeg egyetlen táblázatban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Minden nyelv más erősségekre optimalizál.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2743200" cy="585216"/>
          </a:xfrm>
          <a:prstGeom prst="roundRect">
            <a:avLst>
              <a:gd name="adj" fmla="val 26563"/>
            </a:avLst>
          </a:prstGeom>
          <a:solidFill>
            <a:srgbClr val="26344D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2374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SZEMPONT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47288" y="2359152"/>
            <a:ext cx="2679192" cy="585216"/>
          </a:xfrm>
          <a:prstGeom prst="roundRect">
            <a:avLst>
              <a:gd name="adj" fmla="val 26563"/>
            </a:avLst>
          </a:prstGeom>
          <a:solidFill>
            <a:srgbClr val="1E355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52374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2359152"/>
            <a:ext cx="2670048" cy="585216"/>
          </a:xfrm>
          <a:prstGeom prst="roundRect">
            <a:avLst>
              <a:gd name="adj" fmla="val 26563"/>
            </a:avLst>
          </a:prstGeom>
          <a:solidFill>
            <a:srgbClr val="1E355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252374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33104" y="2359152"/>
            <a:ext cx="2670048" cy="585216"/>
          </a:xfrm>
          <a:prstGeom prst="roundRect">
            <a:avLst>
              <a:gd name="adj" fmla="val 26563"/>
            </a:avLst>
          </a:prstGeom>
          <a:solidFill>
            <a:srgbClr val="1E355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0264" y="252374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026664"/>
            <a:ext cx="2743200" cy="594360"/>
          </a:xfrm>
          <a:prstGeom prst="roundRect">
            <a:avLst>
              <a:gd name="adj" fmla="val 26154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1729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Fő terület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47288" y="3026664"/>
            <a:ext cx="2679192" cy="594360"/>
          </a:xfrm>
          <a:prstGeom prst="roundRect">
            <a:avLst>
              <a:gd name="adj" fmla="val 26154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17296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Tudományos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44768" y="3026664"/>
            <a:ext cx="2670048" cy="594360"/>
          </a:xfrm>
          <a:prstGeom prst="roundRect">
            <a:avLst>
              <a:gd name="adj" fmla="val 26154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17296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Rendszerkód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833104" y="3026664"/>
            <a:ext cx="2670048" cy="594360"/>
          </a:xfrm>
          <a:prstGeom prst="roundRect">
            <a:avLst>
              <a:gd name="adj" fmla="val 26154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51976" y="317296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Biztonságos rendszerkód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5800" y="3685032"/>
            <a:ext cx="2743200" cy="594360"/>
          </a:xfrm>
          <a:prstGeom prst="roundRect">
            <a:avLst>
              <a:gd name="adj" fmla="val 26154"/>
            </a:avLst>
          </a:prstGeom>
          <a:solidFill>
            <a:srgbClr val="101D3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831336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Típusosság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447288" y="3685032"/>
            <a:ext cx="2679192" cy="594360"/>
          </a:xfrm>
          <a:prstGeom prst="roundRect">
            <a:avLst>
              <a:gd name="adj" fmla="val 26154"/>
            </a:avLst>
          </a:prstGeom>
          <a:solidFill>
            <a:srgbClr val="101D3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83133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Statikus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44768" y="3685032"/>
            <a:ext cx="2670048" cy="594360"/>
          </a:xfrm>
          <a:prstGeom prst="roundRect">
            <a:avLst>
              <a:gd name="adj" fmla="val 26154"/>
            </a:avLst>
          </a:prstGeom>
          <a:solidFill>
            <a:srgbClr val="101D3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83133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Statikus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833104" y="3685032"/>
            <a:ext cx="2670048" cy="594360"/>
          </a:xfrm>
          <a:prstGeom prst="roundRect">
            <a:avLst>
              <a:gd name="adj" fmla="val 26154"/>
            </a:avLst>
          </a:prstGeom>
          <a:solidFill>
            <a:srgbClr val="101D3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51976" y="383133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Statikus, szigorú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85800" y="4343400"/>
            <a:ext cx="2743200" cy="594360"/>
          </a:xfrm>
          <a:prstGeom prst="roundRect">
            <a:avLst>
              <a:gd name="adj" fmla="val 26154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489704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Memóriakezelés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447288" y="4343400"/>
            <a:ext cx="2679192" cy="594360"/>
          </a:xfrm>
          <a:prstGeom prst="roundRect">
            <a:avLst>
              <a:gd name="adj" fmla="val 26154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448970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ALLOCATABLE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44768" y="4343400"/>
            <a:ext cx="2670048" cy="594360"/>
          </a:xfrm>
          <a:prstGeom prst="roundRect">
            <a:avLst>
              <a:gd name="adj" fmla="val 26154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4897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malloc / free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833104" y="4343400"/>
            <a:ext cx="2670048" cy="594360"/>
          </a:xfrm>
          <a:prstGeom prst="roundRect">
            <a:avLst>
              <a:gd name="adj" fmla="val 26154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51976" y="44897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Ownership / Drop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85800" y="5001768"/>
            <a:ext cx="2743200" cy="594360"/>
          </a:xfrm>
          <a:prstGeom prst="roundRect">
            <a:avLst>
              <a:gd name="adj" fmla="val 26154"/>
            </a:avLst>
          </a:prstGeom>
          <a:solidFill>
            <a:srgbClr val="101D3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514807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Adatátadás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447288" y="5001768"/>
            <a:ext cx="2679192" cy="594360"/>
          </a:xfrm>
          <a:prstGeom prst="roundRect">
            <a:avLst>
              <a:gd name="adj" fmla="val 26154"/>
            </a:avLst>
          </a:prstGeom>
          <a:solidFill>
            <a:srgbClr val="101D3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514807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Tömb, argumentum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144768" y="5001768"/>
            <a:ext cx="2670048" cy="594360"/>
          </a:xfrm>
          <a:prstGeom prst="roundRect">
            <a:avLst>
              <a:gd name="adj" fmla="val 26154"/>
            </a:avLst>
          </a:prstGeom>
          <a:solidFill>
            <a:srgbClr val="101D3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51480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Pointer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833104" y="5001768"/>
            <a:ext cx="2670048" cy="594360"/>
          </a:xfrm>
          <a:prstGeom prst="roundRect">
            <a:avLst>
              <a:gd name="adj" fmla="val 26154"/>
            </a:avLst>
          </a:prstGeom>
          <a:solidFill>
            <a:srgbClr val="101D31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51976" y="51480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Borrowing, slice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22960" y="582472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Kulcs: azonos eredmény  ≠  azonos tervezési kompromisszum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AZONOS KÓDOLÁSI FELADAT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Öt szám. Három nyelv. Egy eredmény.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Bemenet: 12 · 18 · 25 · 31 · 44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3593592" cy="2359152"/>
          </a:xfrm>
          <a:prstGeom prst="roundRect">
            <a:avLst>
              <a:gd name="adj" fmla="val 6589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560320"/>
            <a:ext cx="1325880" cy="283464"/>
          </a:xfrm>
          <a:prstGeom prst="roundRect">
            <a:avLst>
              <a:gd name="adj" fmla="val 41935"/>
            </a:avLst>
          </a:prstGeom>
          <a:solidFill>
            <a:srgbClr val="F6B84B">
              <a:alpha val="13000"/>
            </a:srgbClr>
          </a:solidFill>
          <a:ln w="11430">
            <a:solidFill>
              <a:srgbClr val="F6B84B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96896"/>
            <a:ext cx="1124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" y="30449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total = sum(scores)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average = real(total, real64) / &amp;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real(size(scores), real64)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480560" y="2331720"/>
            <a:ext cx="3593592" cy="2359152"/>
          </a:xfrm>
          <a:prstGeom prst="roundRect">
            <a:avLst>
              <a:gd name="adj" fmla="val 6589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560320"/>
            <a:ext cx="1325880" cy="283464"/>
          </a:xfrm>
          <a:prstGeom prst="roundRect">
            <a:avLst>
              <a:gd name="adj" fmla="val 41935"/>
            </a:avLst>
          </a:prstGeom>
          <a:solidFill>
            <a:srgbClr val="5788FF">
              <a:alpha val="13000"/>
            </a:srgbClr>
          </a:solidFill>
          <a:ln w="11430">
            <a:solidFill>
              <a:srgbClr val="5788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596896"/>
            <a:ext cx="1124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0449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(size_t i = 0; i &lt; count; ++i)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total += scores[i];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average = (double)total / count;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93608" y="2331720"/>
            <a:ext cx="3593592" cy="2359152"/>
          </a:xfrm>
          <a:prstGeom prst="roundRect">
            <a:avLst>
              <a:gd name="adj" fmla="val 6589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76488" y="2560320"/>
            <a:ext cx="1325880" cy="283464"/>
          </a:xfrm>
          <a:prstGeom prst="roundRect">
            <a:avLst>
              <a:gd name="adj" fmla="val 41935"/>
            </a:avLst>
          </a:prstGeom>
          <a:solidFill>
            <a:srgbClr val="2CD4D2">
              <a:alpha val="13000"/>
            </a:srgbClr>
          </a:solidFill>
          <a:ln w="11430">
            <a:solidFill>
              <a:srgbClr val="2CD4D2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2596896"/>
            <a:ext cx="1124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76488" y="3044952"/>
            <a:ext cx="32095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let total: i32 = scores.iter().sum();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let average = f64::from(total) /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scores.len() as f64;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2542032" y="5056632"/>
            <a:ext cx="7123176" cy="768096"/>
          </a:xfrm>
          <a:prstGeom prst="roundRect">
            <a:avLst>
              <a:gd name="adj" fmla="val 20238"/>
            </a:avLst>
          </a:prstGeom>
          <a:solidFill>
            <a:srgbClr val="1C3B48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4096" y="5285232"/>
            <a:ext cx="6053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8E2A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SUM: 130     |     AVERAGE: 26.00</a:t>
            </a:r>
            <a:endParaRPr lang="en-US" sz="21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 ÉS RUST KÖZVETLENÜL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 felel a memória biztonságáért?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különbség nem csupán a szintaxis.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6656" y="2322576"/>
            <a:ext cx="3602736" cy="3209544"/>
          </a:xfrm>
          <a:prstGeom prst="roundRect">
            <a:avLst>
              <a:gd name="adj" fmla="val 4843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322576"/>
            <a:ext cx="3602736" cy="82296"/>
          </a:xfrm>
          <a:prstGeom prst="rect">
            <a:avLst/>
          </a:prstGeom>
          <a:solidFill>
            <a:srgbClr val="F6B84B"/>
          </a:solidFill>
          <a:ln w="12700">
            <a:solidFill>
              <a:srgbClr val="F6B8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67004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7824" y="324612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Magasabb szintű tömb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3840480"/>
            <a:ext cx="3163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ALLOCATE / DEALLOCATE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77824" y="4489704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nyelv kezeli az allocatable tömbök élettartamának több részletét.</a:t>
            </a:r>
            <a:endParaRPr lang="en-US" sz="1480" dirty="0"/>
          </a:p>
        </p:txBody>
      </p:sp>
      <p:sp>
        <p:nvSpPr>
          <p:cNvPr id="15" name="Shape 13"/>
          <p:cNvSpPr/>
          <p:nvPr/>
        </p:nvSpPr>
        <p:spPr>
          <a:xfrm>
            <a:off x="4480560" y="2322576"/>
            <a:ext cx="3602736" cy="3209544"/>
          </a:xfrm>
          <a:prstGeom prst="roundRect">
            <a:avLst>
              <a:gd name="adj" fmla="val 4843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322576"/>
            <a:ext cx="3602736" cy="82296"/>
          </a:xfrm>
          <a:prstGeom prst="rect">
            <a:avLst/>
          </a:prstGeom>
          <a:solidFill>
            <a:srgbClr val="5788FF"/>
          </a:solidFill>
          <a:ln w="12700">
            <a:solidFill>
              <a:srgbClr val="5788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67004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81728" y="324612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Közvetlen kontroll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81728" y="3840480"/>
            <a:ext cx="3163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malloc() / free()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81728" y="4489704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programozónak kell gondoskodnia a foglalás és a felszabadítás helyességéről.</a:t>
            </a:r>
            <a:endParaRPr lang="en-US" sz="1480" dirty="0"/>
          </a:p>
        </p:txBody>
      </p:sp>
      <p:sp>
        <p:nvSpPr>
          <p:cNvPr id="21" name="Shape 19"/>
          <p:cNvSpPr/>
          <p:nvPr/>
        </p:nvSpPr>
        <p:spPr>
          <a:xfrm>
            <a:off x="8284464" y="2322576"/>
            <a:ext cx="3602736" cy="3209544"/>
          </a:xfrm>
          <a:prstGeom prst="roundRect">
            <a:avLst>
              <a:gd name="adj" fmla="val 4843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2322576"/>
            <a:ext cx="3602736" cy="82296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267004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RUST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85632" y="324612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Fordításidejű szabályok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5632" y="3840480"/>
            <a:ext cx="3163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ownership / borrow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85632" y="4489704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Sok élettartam- és aliasolási problémát a fordító vizsgál.</a:t>
            </a:r>
            <a:endParaRPr lang="en-US" sz="148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KONKLÚZIÓ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régi nyelvek nem tűntek el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fejlődés nem lecserélés, hanem újabb lehetőségek hozzáadása.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09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368296"/>
            <a:ext cx="10735056" cy="914400"/>
          </a:xfrm>
          <a:prstGeom prst="roundRect">
            <a:avLst>
              <a:gd name="adj" fmla="val 17000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2368296"/>
            <a:ext cx="82296" cy="914400"/>
          </a:xfrm>
          <a:prstGeom prst="rect">
            <a:avLst/>
          </a:prstGeom>
          <a:solidFill>
            <a:srgbClr val="F6B84B"/>
          </a:solidFill>
          <a:ln w="12700">
            <a:solidFill>
              <a:srgbClr val="F6B8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6426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072384" y="2569464"/>
            <a:ext cx="4882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Numerikus és tudományos számítások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0" y="2578608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képletek és tömbök tovább élő világa.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38144"/>
            <a:ext cx="10735056" cy="914400"/>
          </a:xfrm>
          <a:prstGeom prst="roundRect">
            <a:avLst>
              <a:gd name="adj" fmla="val 17000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" y="3438144"/>
            <a:ext cx="82296" cy="914400"/>
          </a:xfrm>
          <a:prstGeom prst="rect">
            <a:avLst/>
          </a:prstGeom>
          <a:solidFill>
            <a:srgbClr val="5788FF"/>
          </a:solidFill>
          <a:ln w="12700">
            <a:solidFill>
              <a:srgbClr val="5788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7124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072384" y="3639312"/>
            <a:ext cx="4882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Operációs rendszerek és könyvtárak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98080" y="3648456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Szintaktikai és interfész-örökség.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507992"/>
            <a:ext cx="10735056" cy="914400"/>
          </a:xfrm>
          <a:prstGeom prst="roundRect">
            <a:avLst>
              <a:gd name="adj" fmla="val 17000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" y="4507992"/>
            <a:ext cx="82296" cy="914400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7823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RUST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072384" y="4709160"/>
            <a:ext cx="4882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Biztonságosabb rendszerszoftverek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0" y="4718304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Fordítói garanciák és ownership.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" y="582472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legjobb nyelv mindig a feladattól és a kompromisszumoktól függ.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84048"/>
            <a:ext cx="77724" cy="283464"/>
          </a:xfrm>
          <a:prstGeom prst="rect">
            <a:avLst/>
          </a:prstGeom>
          <a:solidFill>
            <a:srgbClr val="2CD4D2"/>
          </a:solidFill>
          <a:ln w="12700">
            <a:solidFill>
              <a:srgbClr val="2CD4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ÖSSZEGZÉS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0936" y="932688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Három korszak. Három hangsúly.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programozási nyelvek fejlődése a kompromisszumok újratervezése.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519672"/>
            <a:ext cx="11521440" cy="0"/>
          </a:xfrm>
          <a:prstGeom prst="line">
            <a:avLst/>
          </a:prstGeom>
          <a:noFill/>
          <a:ln w="9525">
            <a:solidFill>
              <a:srgbClr val="2C3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399B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   /   C   /  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43616" y="65562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2376" y="2468880"/>
            <a:ext cx="3218688" cy="1947672"/>
          </a:xfrm>
          <a:prstGeom prst="roundRect">
            <a:avLst>
              <a:gd name="adj" fmla="val 7981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84378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B8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SZÁMÍTÁS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86968" y="35844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FORTRAN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44568" y="2468880"/>
            <a:ext cx="3218688" cy="1947672"/>
          </a:xfrm>
          <a:prstGeom prst="roundRect">
            <a:avLst>
              <a:gd name="adj" fmla="val 7981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84378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788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KONTROLL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709160" y="35844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93608" y="2468880"/>
            <a:ext cx="3218688" cy="1947672"/>
          </a:xfrm>
          <a:prstGeom prst="roundRect">
            <a:avLst>
              <a:gd name="adj" fmla="val 7981"/>
            </a:avLst>
          </a:prstGeom>
          <a:solidFill>
            <a:srgbClr val="17263E"/>
          </a:solidFill>
          <a:ln w="10160">
            <a:solidFill>
              <a:srgbClr val="2C3C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84378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C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BIZTONSÁG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458200" y="35844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4928616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FB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Köszönjük a figyelmet!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59536" y="5705856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1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Milán  ·  Gergő  ·  Dominik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Iskolai 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programozási nyelvek evolúciója</dc:title>
  <dc:subject>Fortran – C – Rust</dc:subject>
  <dc:creator>Projektcsoport</dc:creator>
  <cp:lastModifiedBy>Projektcsoport</cp:lastModifiedBy>
  <cp:revision>1</cp:revision>
  <dcterms:created xsi:type="dcterms:W3CDTF">2026-10-19T12:54:33Z</dcterms:created>
  <dcterms:modified xsi:type="dcterms:W3CDTF">2026-10-19T12:54:33Z</dcterms:modified>
</cp:coreProperties>
</file>